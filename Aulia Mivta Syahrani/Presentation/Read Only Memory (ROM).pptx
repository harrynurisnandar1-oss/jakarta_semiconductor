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8288000" cy="10287000"/>
  <p:notesSz cx="6858000" cy="9144000"/>
  <p:embeddedFontLst>
    <p:embeddedFont>
      <p:font typeface="Faustina Bold" panose="020B0604020202020204" charset="0"/>
      <p:regular r:id="rId9"/>
    </p:embeddedFont>
    <p:embeddedFont>
      <p:font typeface="Poppins" panose="00000500000000000000" pitchFamily="2" charset="0"/>
      <p:regular r:id="rId10"/>
      <p:bold r:id="rId11"/>
    </p:embeddedFont>
    <p:embeddedFont>
      <p:font typeface="Poppins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er_aspire_N100@outlook.com" userId="c2ee7ddae67c008c" providerId="LiveId" clId="{1B99FF9E-9DB1-4B10-8F6E-B82063EDCF9E}"/>
    <pc:docChg chg="delSld">
      <pc:chgData name="acer_aspire_N100@outlook.com" userId="c2ee7ddae67c008c" providerId="LiveId" clId="{1B99FF9E-9DB1-4B10-8F6E-B82063EDCF9E}" dt="2026-09-05T07:54:00.417" v="1" actId="2696"/>
      <pc:docMkLst>
        <pc:docMk/>
      </pc:docMkLst>
      <pc:sldChg chg="del">
        <pc:chgData name="acer_aspire_N100@outlook.com" userId="c2ee7ddae67c008c" providerId="LiveId" clId="{1B99FF9E-9DB1-4B10-8F6E-B82063EDCF9E}" dt="2026-09-05T07:53:56.391" v="0" actId="2696"/>
        <pc:sldMkLst>
          <pc:docMk/>
          <pc:sldMk cId="322376684" sldId="263"/>
        </pc:sldMkLst>
      </pc:sldChg>
      <pc:sldChg chg="del">
        <pc:chgData name="acer_aspire_N100@outlook.com" userId="c2ee7ddae67c008c" providerId="LiveId" clId="{1B99FF9E-9DB1-4B10-8F6E-B82063EDCF9E}" dt="2026-09-05T07:54:00.417" v="1" actId="2696"/>
        <pc:sldMkLst>
          <pc:docMk/>
          <pc:sldMk cId="940038599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57496" y="3195915"/>
            <a:ext cx="13539942" cy="2120819"/>
          </a:xfrm>
          <a:custGeom>
            <a:avLst/>
            <a:gdLst/>
            <a:ahLst/>
            <a:cxnLst/>
            <a:rect l="l" t="t" r="r" b="b"/>
            <a:pathLst>
              <a:path w="13539942" h="2120819">
                <a:moveTo>
                  <a:pt x="0" y="0"/>
                </a:moveTo>
                <a:lnTo>
                  <a:pt x="13539941" y="0"/>
                </a:lnTo>
                <a:lnTo>
                  <a:pt x="13539941" y="2120819"/>
                </a:lnTo>
                <a:lnTo>
                  <a:pt x="0" y="2120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83" r="-3282" b="-7283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3" name="Group 3"/>
          <p:cNvGrpSpPr/>
          <p:nvPr/>
        </p:nvGrpSpPr>
        <p:grpSpPr>
          <a:xfrm>
            <a:off x="-772763" y="9495573"/>
            <a:ext cx="19685815" cy="1291025"/>
            <a:chOff x="0" y="0"/>
            <a:chExt cx="5184741" cy="3400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42" cy="340023"/>
            </a:xfrm>
            <a:custGeom>
              <a:avLst/>
              <a:gdLst/>
              <a:ahLst/>
              <a:cxnLst/>
              <a:rect l="l" t="t" r="r" b="b"/>
              <a:pathLst>
                <a:path w="5184742" h="340023">
                  <a:moveTo>
                    <a:pt x="0" y="0"/>
                  </a:moveTo>
                  <a:lnTo>
                    <a:pt x="5184742" y="0"/>
                  </a:lnTo>
                  <a:lnTo>
                    <a:pt x="5184742" y="340023"/>
                  </a:lnTo>
                  <a:lnTo>
                    <a:pt x="0" y="340023"/>
                  </a:lnTo>
                  <a:close/>
                </a:path>
              </a:pathLst>
            </a:custGeom>
            <a:solidFill>
              <a:srgbClr val="1F628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184741" cy="387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15561" y="2931258"/>
            <a:ext cx="13289945" cy="1761900"/>
            <a:chOff x="0" y="0"/>
            <a:chExt cx="17719927" cy="23492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7719927" cy="2349200"/>
              <a:chOff x="0" y="0"/>
              <a:chExt cx="3500232" cy="46403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500232" cy="464040"/>
              </a:xfrm>
              <a:custGeom>
                <a:avLst/>
                <a:gdLst/>
                <a:ahLst/>
                <a:cxnLst/>
                <a:rect l="l" t="t" r="r" b="b"/>
                <a:pathLst>
                  <a:path w="3500232" h="464040">
                    <a:moveTo>
                      <a:pt x="0" y="0"/>
                    </a:moveTo>
                    <a:lnTo>
                      <a:pt x="3500232" y="0"/>
                    </a:lnTo>
                    <a:lnTo>
                      <a:pt x="3500232" y="464040"/>
                    </a:lnTo>
                    <a:lnTo>
                      <a:pt x="0" y="464040"/>
                    </a:lnTo>
                    <a:close/>
                  </a:path>
                </a:pathLst>
              </a:custGeom>
              <a:solidFill>
                <a:srgbClr val="1F628E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3500232" cy="5116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621092"/>
              <a:ext cx="17719927" cy="1059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550"/>
                </a:lnSpc>
              </a:pPr>
              <a:r>
                <a:rPr lang="en-US" sz="5000" b="1" spc="155" dirty="0">
                  <a:solidFill>
                    <a:srgbClr val="FFFFFF"/>
                  </a:solidFill>
                  <a:latin typeface="Faustina Bold"/>
                  <a:ea typeface="Faustina Bold"/>
                  <a:cs typeface="Faustina Bold"/>
                  <a:sym typeface="Faustina Bold"/>
                </a:rPr>
                <a:t>READ-ONLY MEMORY (ROM)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703129" y="2184829"/>
            <a:ext cx="473403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b="1" spc="42">
                <a:solidFill>
                  <a:srgbClr val="000000"/>
                </a:solidFill>
                <a:latin typeface="Faustina Bold"/>
                <a:ea typeface="Faustina Bold"/>
                <a:cs typeface="Faustina Bold"/>
                <a:sym typeface="Faustina Bold"/>
              </a:rPr>
              <a:t>APLIKASI DIODA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60451" y="5650109"/>
            <a:ext cx="4800165" cy="40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600" b="1" dirty="0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Aulia </a:t>
            </a:r>
            <a:r>
              <a:rPr lang="en-US" sz="2600" b="1" dirty="0" err="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Mivta</a:t>
            </a:r>
            <a:r>
              <a:rPr lang="en-US" sz="2600" b="1" dirty="0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600" b="1" dirty="0" err="1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Syahrani</a:t>
            </a:r>
            <a:endParaRPr lang="en-US" sz="2600" b="1" dirty="0">
              <a:solidFill>
                <a:srgbClr val="34343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57594" y="6996817"/>
            <a:ext cx="6005879" cy="41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sz="2600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4 September 2026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772763" y="-214150"/>
            <a:ext cx="19685815" cy="785650"/>
            <a:chOff x="0" y="0"/>
            <a:chExt cx="5184741" cy="206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84742" cy="206920"/>
            </a:xfrm>
            <a:custGeom>
              <a:avLst/>
              <a:gdLst/>
              <a:ahLst/>
              <a:cxnLst/>
              <a:rect l="l" t="t" r="r" b="b"/>
              <a:pathLst>
                <a:path w="5184742" h="206920">
                  <a:moveTo>
                    <a:pt x="0" y="0"/>
                  </a:moveTo>
                  <a:lnTo>
                    <a:pt x="5184742" y="0"/>
                  </a:lnTo>
                  <a:lnTo>
                    <a:pt x="5184742" y="206920"/>
                  </a:lnTo>
                  <a:lnTo>
                    <a:pt x="0" y="206920"/>
                  </a:lnTo>
                  <a:close/>
                </a:path>
              </a:pathLst>
            </a:custGeom>
            <a:solidFill>
              <a:srgbClr val="BFD9E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184741" cy="254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72763" y="9925307"/>
            <a:ext cx="19685815" cy="895359"/>
            <a:chOff x="0" y="0"/>
            <a:chExt cx="5184741" cy="2358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4742" cy="235815"/>
            </a:xfrm>
            <a:custGeom>
              <a:avLst/>
              <a:gdLst/>
              <a:ahLst/>
              <a:cxnLst/>
              <a:rect l="l" t="t" r="r" b="b"/>
              <a:pathLst>
                <a:path w="5184742" h="235815">
                  <a:moveTo>
                    <a:pt x="0" y="0"/>
                  </a:moveTo>
                  <a:lnTo>
                    <a:pt x="5184742" y="0"/>
                  </a:lnTo>
                  <a:lnTo>
                    <a:pt x="5184742" y="235815"/>
                  </a:lnTo>
                  <a:lnTo>
                    <a:pt x="0" y="235815"/>
                  </a:lnTo>
                  <a:close/>
                </a:path>
              </a:pathLst>
            </a:custGeom>
            <a:solidFill>
              <a:srgbClr val="1F628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184741" cy="283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99829" y="-392825"/>
            <a:ext cx="19685815" cy="785650"/>
            <a:chOff x="0" y="0"/>
            <a:chExt cx="5184741" cy="206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84742" cy="206920"/>
            </a:xfrm>
            <a:custGeom>
              <a:avLst/>
              <a:gdLst/>
              <a:ahLst/>
              <a:cxnLst/>
              <a:rect l="l" t="t" r="r" b="b"/>
              <a:pathLst>
                <a:path w="5184742" h="206920">
                  <a:moveTo>
                    <a:pt x="0" y="0"/>
                  </a:moveTo>
                  <a:lnTo>
                    <a:pt x="5184742" y="0"/>
                  </a:lnTo>
                  <a:lnTo>
                    <a:pt x="5184742" y="206920"/>
                  </a:lnTo>
                  <a:lnTo>
                    <a:pt x="0" y="206920"/>
                  </a:lnTo>
                  <a:close/>
                </a:path>
              </a:pathLst>
            </a:custGeom>
            <a:solidFill>
              <a:srgbClr val="BFD9E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84741" cy="254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981200" y="8052944"/>
            <a:ext cx="3455057" cy="1306969"/>
          </a:xfrm>
          <a:custGeom>
            <a:avLst/>
            <a:gdLst/>
            <a:ahLst/>
            <a:cxnLst/>
            <a:rect l="l" t="t" r="r" b="b"/>
            <a:pathLst>
              <a:path w="3455057" h="1306969">
                <a:moveTo>
                  <a:pt x="0" y="0"/>
                </a:moveTo>
                <a:lnTo>
                  <a:pt x="3455057" y="0"/>
                </a:lnTo>
                <a:lnTo>
                  <a:pt x="3455057" y="1306969"/>
                </a:lnTo>
                <a:lnTo>
                  <a:pt x="0" y="1306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11210956" y="2846930"/>
            <a:ext cx="5633666" cy="4683243"/>
          </a:xfrm>
          <a:custGeom>
            <a:avLst/>
            <a:gdLst/>
            <a:ahLst/>
            <a:cxnLst/>
            <a:rect l="l" t="t" r="r" b="b"/>
            <a:pathLst>
              <a:path w="5633666" h="4683243">
                <a:moveTo>
                  <a:pt x="0" y="0"/>
                </a:moveTo>
                <a:lnTo>
                  <a:pt x="5633666" y="0"/>
                </a:lnTo>
                <a:lnTo>
                  <a:pt x="5633666" y="4683243"/>
                </a:lnTo>
                <a:lnTo>
                  <a:pt x="0" y="4683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0" name="TextBox 10"/>
          <p:cNvSpPr txBox="1"/>
          <p:nvPr/>
        </p:nvSpPr>
        <p:spPr>
          <a:xfrm>
            <a:off x="6256114" y="695325"/>
            <a:ext cx="562806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5000" b="1">
                <a:solidFill>
                  <a:srgbClr val="343434"/>
                </a:solidFill>
                <a:latin typeface="Faustina Bold"/>
                <a:ea typeface="Faustina Bold"/>
                <a:cs typeface="Faustina Bold"/>
                <a:sym typeface="Faustina Bold"/>
              </a:rPr>
              <a:t>Dioda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7319" y="1745840"/>
            <a:ext cx="15223787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Dioda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⟶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komponen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dibuat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material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semikonduktor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⟶ 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silikon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359"/>
              </a:lnSpc>
            </a:pP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Berasal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pertemuan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material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tipe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-p dan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tipe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-n yang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membentuk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p-n junction.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7319" y="6982290"/>
            <a:ext cx="14694212" cy="846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Fungsi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dioda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mengatur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arah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aliran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arus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mengalir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Anoda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Katoda</a:t>
            </a:r>
            <a:endParaRPr lang="en-US" sz="2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1271" y="3942305"/>
            <a:ext cx="9909686" cy="168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Baterai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beda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potensial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medan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listrik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gaya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pada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elektron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/hole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pembawa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muatan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bergerak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arus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mengalir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</a:pP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kondisi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dioda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mendapat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bias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maju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(forward-biased).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71ABE1F2-D18B-296F-2FF9-FAB4D5DA5E12}"/>
              </a:ext>
            </a:extLst>
          </p:cNvPr>
          <p:cNvSpPr txBox="1"/>
          <p:nvPr/>
        </p:nvSpPr>
        <p:spPr>
          <a:xfrm>
            <a:off x="12700853" y="7875973"/>
            <a:ext cx="3276600" cy="353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D" sz="2300" dirty="0">
                <a:latin typeface="Poppins" panose="00000500000000000000" pitchFamily="2" charset="0"/>
                <a:cs typeface="Poppins" panose="00000500000000000000" pitchFamily="2" charset="0"/>
              </a:rPr>
              <a:t>(Scherz &amp; Monk, 2016)</a:t>
            </a:r>
            <a:endParaRPr lang="en-US" sz="23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72763" y="9925307"/>
            <a:ext cx="19685815" cy="895359"/>
            <a:chOff x="0" y="0"/>
            <a:chExt cx="5184741" cy="2358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4742" cy="235815"/>
            </a:xfrm>
            <a:custGeom>
              <a:avLst/>
              <a:gdLst/>
              <a:ahLst/>
              <a:cxnLst/>
              <a:rect l="l" t="t" r="r" b="b"/>
              <a:pathLst>
                <a:path w="5184742" h="235815">
                  <a:moveTo>
                    <a:pt x="0" y="0"/>
                  </a:moveTo>
                  <a:lnTo>
                    <a:pt x="5184742" y="0"/>
                  </a:lnTo>
                  <a:lnTo>
                    <a:pt x="5184742" y="235815"/>
                  </a:lnTo>
                  <a:lnTo>
                    <a:pt x="0" y="235815"/>
                  </a:lnTo>
                  <a:close/>
                </a:path>
              </a:pathLst>
            </a:custGeom>
            <a:solidFill>
              <a:srgbClr val="1F628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184741" cy="283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99829" y="-392825"/>
            <a:ext cx="19685815" cy="785650"/>
            <a:chOff x="0" y="0"/>
            <a:chExt cx="5184741" cy="206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84742" cy="206920"/>
            </a:xfrm>
            <a:custGeom>
              <a:avLst/>
              <a:gdLst/>
              <a:ahLst/>
              <a:cxnLst/>
              <a:rect l="l" t="t" r="r" b="b"/>
              <a:pathLst>
                <a:path w="5184742" h="206920">
                  <a:moveTo>
                    <a:pt x="0" y="0"/>
                  </a:moveTo>
                  <a:lnTo>
                    <a:pt x="5184742" y="0"/>
                  </a:lnTo>
                  <a:lnTo>
                    <a:pt x="5184742" y="206920"/>
                  </a:lnTo>
                  <a:lnTo>
                    <a:pt x="0" y="206920"/>
                  </a:lnTo>
                  <a:close/>
                </a:path>
              </a:pathLst>
            </a:custGeom>
            <a:solidFill>
              <a:srgbClr val="BFD9E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84741" cy="254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06036" y="1396990"/>
            <a:ext cx="5164617" cy="7524151"/>
          </a:xfrm>
          <a:custGeom>
            <a:avLst/>
            <a:gdLst/>
            <a:ahLst/>
            <a:cxnLst/>
            <a:rect l="l" t="t" r="r" b="b"/>
            <a:pathLst>
              <a:path w="5164617" h="7524151">
                <a:moveTo>
                  <a:pt x="0" y="0"/>
                </a:moveTo>
                <a:lnTo>
                  <a:pt x="5164616" y="0"/>
                </a:lnTo>
                <a:lnTo>
                  <a:pt x="5164616" y="7524151"/>
                </a:lnTo>
                <a:lnTo>
                  <a:pt x="0" y="7524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6161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6534861" y="798491"/>
            <a:ext cx="562806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000" b="1">
                <a:solidFill>
                  <a:srgbClr val="343434"/>
                </a:solidFill>
                <a:latin typeface="Faustina Bold"/>
                <a:ea typeface="Faustina Bold"/>
                <a:cs typeface="Faustina Bold"/>
                <a:sym typeface="Faustina Bold"/>
              </a:rPr>
              <a:t>ROM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34861" y="2314935"/>
            <a:ext cx="10846341" cy="128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Karena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dioda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mengatur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apakah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arus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melewati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suatu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jalur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sifat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dimanfaatkan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membentuk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suatu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logika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Salah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satunya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adalah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ROM.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412959" y="3889894"/>
            <a:ext cx="10846341" cy="3465308"/>
            <a:chOff x="0" y="-66675"/>
            <a:chExt cx="14461788" cy="462041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66675"/>
              <a:ext cx="14461788" cy="4620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ROM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adalah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memori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yang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menyimpan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pola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data yang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telah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ditentukan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 Pola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tersebut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dapat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dibaca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ketika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suatu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input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diberikan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ROM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dibuat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menggunakan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susunan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dioda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Rangkaian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ini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berfungsi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sebagai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decimal-to-binary encoder.</a:t>
              </a:r>
            </a:p>
            <a:p>
              <a:pPr algn="l">
                <a:lnSpc>
                  <a:spcPts val="3359"/>
                </a:lnSpc>
              </a:pPr>
              <a:endPara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518160" lvl="1" indent="-259080" algn="l">
                <a:lnSpc>
                  <a:spcPts val="3359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Ketika salah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satu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input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desimal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dipilih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rangkaian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menghasilkan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representasi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biner pada output LED.</a:t>
              </a:r>
            </a:p>
          </p:txBody>
        </p:sp>
        <p:sp>
          <p:nvSpPr>
            <p:cNvPr id="13" name="AutoShape 13"/>
            <p:cNvSpPr/>
            <p:nvPr/>
          </p:nvSpPr>
          <p:spPr>
            <a:xfrm flipH="1">
              <a:off x="6827903" y="2925600"/>
              <a:ext cx="0" cy="51880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483848B9-B9F3-81A8-114D-C983663405E8}"/>
              </a:ext>
            </a:extLst>
          </p:cNvPr>
          <p:cNvSpPr txBox="1"/>
          <p:nvPr/>
        </p:nvSpPr>
        <p:spPr>
          <a:xfrm>
            <a:off x="1750044" y="9100070"/>
            <a:ext cx="3276600" cy="353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D" sz="2300" dirty="0">
                <a:latin typeface="Poppins" panose="00000500000000000000" pitchFamily="2" charset="0"/>
                <a:cs typeface="Poppins" panose="00000500000000000000" pitchFamily="2" charset="0"/>
              </a:rPr>
              <a:t>(Scherz &amp; Monk, 2016)</a:t>
            </a:r>
            <a:endParaRPr lang="en-US" sz="23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72763" y="9925307"/>
            <a:ext cx="19685815" cy="895359"/>
            <a:chOff x="0" y="0"/>
            <a:chExt cx="5184741" cy="2358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4742" cy="235815"/>
            </a:xfrm>
            <a:custGeom>
              <a:avLst/>
              <a:gdLst/>
              <a:ahLst/>
              <a:cxnLst/>
              <a:rect l="l" t="t" r="r" b="b"/>
              <a:pathLst>
                <a:path w="5184742" h="235815">
                  <a:moveTo>
                    <a:pt x="0" y="0"/>
                  </a:moveTo>
                  <a:lnTo>
                    <a:pt x="5184742" y="0"/>
                  </a:lnTo>
                  <a:lnTo>
                    <a:pt x="5184742" y="235815"/>
                  </a:lnTo>
                  <a:lnTo>
                    <a:pt x="0" y="235815"/>
                  </a:lnTo>
                  <a:close/>
                </a:path>
              </a:pathLst>
            </a:custGeom>
            <a:solidFill>
              <a:srgbClr val="1F628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184741" cy="283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99829" y="-392825"/>
            <a:ext cx="19685815" cy="785650"/>
            <a:chOff x="0" y="0"/>
            <a:chExt cx="5184741" cy="206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84742" cy="206920"/>
            </a:xfrm>
            <a:custGeom>
              <a:avLst/>
              <a:gdLst/>
              <a:ahLst/>
              <a:cxnLst/>
              <a:rect l="l" t="t" r="r" b="b"/>
              <a:pathLst>
                <a:path w="5184742" h="206920">
                  <a:moveTo>
                    <a:pt x="0" y="0"/>
                  </a:moveTo>
                  <a:lnTo>
                    <a:pt x="5184742" y="0"/>
                  </a:lnTo>
                  <a:lnTo>
                    <a:pt x="5184742" y="206920"/>
                  </a:lnTo>
                  <a:lnTo>
                    <a:pt x="0" y="206920"/>
                  </a:lnTo>
                  <a:close/>
                </a:path>
              </a:pathLst>
            </a:custGeom>
            <a:solidFill>
              <a:srgbClr val="BFD9E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84741" cy="254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38200" y="1287811"/>
            <a:ext cx="5164617" cy="7524151"/>
          </a:xfrm>
          <a:custGeom>
            <a:avLst/>
            <a:gdLst/>
            <a:ahLst/>
            <a:cxnLst/>
            <a:rect l="l" t="t" r="r" b="b"/>
            <a:pathLst>
              <a:path w="5164617" h="7524151">
                <a:moveTo>
                  <a:pt x="0" y="0"/>
                </a:moveTo>
                <a:lnTo>
                  <a:pt x="5164616" y="0"/>
                </a:lnTo>
                <a:lnTo>
                  <a:pt x="5164616" y="7524151"/>
                </a:lnTo>
                <a:lnTo>
                  <a:pt x="0" y="7524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6161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6729047" y="695325"/>
            <a:ext cx="562806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000" b="1">
                <a:solidFill>
                  <a:srgbClr val="343434"/>
                </a:solidFill>
                <a:latin typeface="Faustina Bold"/>
                <a:ea typeface="Faustina Bold"/>
                <a:cs typeface="Faustina Bold"/>
                <a:sym typeface="Faustina Bold"/>
              </a:rPr>
              <a:t>ROM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29047" y="3249875"/>
            <a:ext cx="10846341" cy="302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Komponen</a:t>
            </a:r>
            <a:endParaRPr lang="en-US" sz="24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Power Supply 6 V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Pull-up resistor 1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kΩ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pada masing-masing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jalur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output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 switches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Matriks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Dioda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menentukan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jalur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mana yang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dialirkan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ground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ketika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tombol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tertentu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ditekan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29047" y="6835387"/>
            <a:ext cx="1084634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Prinsip</a:t>
            </a:r>
            <a:r>
              <a:rPr lang="en-US" sz="2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Kerja</a:t>
            </a:r>
            <a:r>
              <a:rPr lang="en-US" sz="2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Awal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29047" y="7350615"/>
            <a:ext cx="10846341" cy="128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Pada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kondisi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awal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semua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switch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terbuka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jalur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terhubung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ground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keempat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jalur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output HIGH →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semua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LED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menyala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29047" y="1972273"/>
            <a:ext cx="10846341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ROM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menggunakan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dioda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sebagai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enkoder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mengubah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input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desimal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menjadi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output biner.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CC5EFEA8-0BCB-73A9-7584-9A7CF62C9B1C}"/>
              </a:ext>
            </a:extLst>
          </p:cNvPr>
          <p:cNvSpPr txBox="1"/>
          <p:nvPr/>
        </p:nvSpPr>
        <p:spPr>
          <a:xfrm>
            <a:off x="1782208" y="8976297"/>
            <a:ext cx="3276600" cy="353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D" sz="2300" dirty="0">
                <a:latin typeface="Poppins" panose="00000500000000000000" pitchFamily="2" charset="0"/>
                <a:cs typeface="Poppins" panose="00000500000000000000" pitchFamily="2" charset="0"/>
              </a:rPr>
              <a:t>(Scherz &amp; Monk, 2016)</a:t>
            </a:r>
            <a:endParaRPr lang="en-US" sz="23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8908" y="10140731"/>
            <a:ext cx="19685815" cy="895359"/>
            <a:chOff x="0" y="0"/>
            <a:chExt cx="5184741" cy="2358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4742" cy="235815"/>
            </a:xfrm>
            <a:custGeom>
              <a:avLst/>
              <a:gdLst/>
              <a:ahLst/>
              <a:cxnLst/>
              <a:rect l="l" t="t" r="r" b="b"/>
              <a:pathLst>
                <a:path w="5184742" h="235815">
                  <a:moveTo>
                    <a:pt x="0" y="0"/>
                  </a:moveTo>
                  <a:lnTo>
                    <a:pt x="5184742" y="0"/>
                  </a:lnTo>
                  <a:lnTo>
                    <a:pt x="5184742" y="235815"/>
                  </a:lnTo>
                  <a:lnTo>
                    <a:pt x="0" y="235815"/>
                  </a:lnTo>
                  <a:close/>
                </a:path>
              </a:pathLst>
            </a:custGeom>
            <a:solidFill>
              <a:srgbClr val="1F628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184741" cy="283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99829" y="-392825"/>
            <a:ext cx="19685815" cy="785650"/>
            <a:chOff x="0" y="0"/>
            <a:chExt cx="5184741" cy="206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84742" cy="206920"/>
            </a:xfrm>
            <a:custGeom>
              <a:avLst/>
              <a:gdLst/>
              <a:ahLst/>
              <a:cxnLst/>
              <a:rect l="l" t="t" r="r" b="b"/>
              <a:pathLst>
                <a:path w="5184742" h="206920">
                  <a:moveTo>
                    <a:pt x="0" y="0"/>
                  </a:moveTo>
                  <a:lnTo>
                    <a:pt x="5184742" y="0"/>
                  </a:lnTo>
                  <a:lnTo>
                    <a:pt x="5184742" y="206920"/>
                  </a:lnTo>
                  <a:lnTo>
                    <a:pt x="0" y="206920"/>
                  </a:lnTo>
                  <a:close/>
                </a:path>
              </a:pathLst>
            </a:custGeom>
            <a:solidFill>
              <a:srgbClr val="BFD9E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84741" cy="254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34147" y="1734149"/>
            <a:ext cx="5164617" cy="7524151"/>
          </a:xfrm>
          <a:custGeom>
            <a:avLst/>
            <a:gdLst/>
            <a:ahLst/>
            <a:cxnLst/>
            <a:rect l="l" t="t" r="r" b="b"/>
            <a:pathLst>
              <a:path w="5164617" h="7524151">
                <a:moveTo>
                  <a:pt x="0" y="0"/>
                </a:moveTo>
                <a:lnTo>
                  <a:pt x="5164616" y="0"/>
                </a:lnTo>
                <a:lnTo>
                  <a:pt x="5164616" y="7524151"/>
                </a:lnTo>
                <a:lnTo>
                  <a:pt x="0" y="7524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6161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6534861" y="798491"/>
            <a:ext cx="562806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000" b="1">
                <a:solidFill>
                  <a:srgbClr val="343434"/>
                </a:solidFill>
                <a:latin typeface="Faustina Bold"/>
                <a:ea typeface="Faustina Bold"/>
                <a:cs typeface="Faustina Bold"/>
                <a:sym typeface="Faustina Bold"/>
              </a:rPr>
              <a:t>ROM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34861" y="1808141"/>
            <a:ext cx="10846341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Contoh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l">
              <a:lnSpc>
                <a:spcPts val="3359"/>
              </a:lnSpc>
            </a:pPr>
            <a:r>
              <a:rPr lang="en-US" sz="24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Tombol</a:t>
            </a:r>
            <a:r>
              <a:rPr lang="en-US" sz="2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1 </a:t>
            </a:r>
            <a:r>
              <a:rPr lang="en-US" sz="24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ditekan</a:t>
            </a:r>
            <a:endParaRPr lang="en-US" sz="24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6534861" y="3014006"/>
            <a:ext cx="10846341" cy="2872740"/>
            <a:chOff x="0" y="0"/>
            <a:chExt cx="14461788" cy="383032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66675"/>
              <a:ext cx="14461788" cy="3896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Jalur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terhubung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dengan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ground</a:t>
              </a:r>
            </a:p>
            <a:p>
              <a:pPr algn="l">
                <a:lnSpc>
                  <a:spcPts val="3359"/>
                </a:lnSpc>
              </a:pPr>
              <a:endPara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Arus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dialihkan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dari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jalur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2³, 2², dan 2¹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menuju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ground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melalui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dioda</a:t>
              </a:r>
              <a:endPara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359"/>
                </a:lnSpc>
              </a:pPr>
              <a:endPara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Ketiga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jalur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menjadi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LOW (0)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sedangkan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jalur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2⁰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tetap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HIGH</a:t>
              </a:r>
            </a:p>
            <a:p>
              <a:pPr algn="l">
                <a:lnSpc>
                  <a:spcPts val="3359"/>
                </a:lnSpc>
              </a:pPr>
              <a:endPara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359"/>
                </a:lnSpc>
              </a:pP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LED pada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posisi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2⁰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menyala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LED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lainnya</a:t>
              </a: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mati</a:t>
              </a:r>
              <a:endPara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" name="AutoShape 13"/>
            <p:cNvSpPr/>
            <p:nvPr/>
          </p:nvSpPr>
          <p:spPr>
            <a:xfrm flipH="1">
              <a:off x="6376901" y="2835217"/>
              <a:ext cx="0" cy="51881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AutoShape 14"/>
            <p:cNvSpPr/>
            <p:nvPr/>
          </p:nvSpPr>
          <p:spPr>
            <a:xfrm flipH="1">
              <a:off x="6351501" y="1706807"/>
              <a:ext cx="0" cy="51881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AutoShape 15"/>
            <p:cNvSpPr/>
            <p:nvPr/>
          </p:nvSpPr>
          <p:spPr>
            <a:xfrm flipH="1">
              <a:off x="6326101" y="582350"/>
              <a:ext cx="0" cy="51881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534861" y="8833485"/>
            <a:ext cx="1084634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Jadi input desimal 1 menghasilkan output biner 0001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34861" y="6540814"/>
            <a:ext cx="10846341" cy="1717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Jalur 2³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bernilai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Jalur 2²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bernilai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Jalur 2¹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bernilai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Jalur 2⁰ </a:t>
            </a:r>
            <a:r>
              <a:rPr lang="en-US" sz="2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bernilai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95DB5715-015A-2FBD-9DBC-1B97CD2EB161}"/>
              </a:ext>
            </a:extLst>
          </p:cNvPr>
          <p:cNvSpPr txBox="1"/>
          <p:nvPr/>
        </p:nvSpPr>
        <p:spPr>
          <a:xfrm>
            <a:off x="1778155" y="9486900"/>
            <a:ext cx="3276600" cy="353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D" sz="2300" dirty="0">
                <a:latin typeface="Poppins" panose="00000500000000000000" pitchFamily="2" charset="0"/>
                <a:cs typeface="Poppins" panose="00000500000000000000" pitchFamily="2" charset="0"/>
              </a:rPr>
              <a:t>(Scherz &amp; Monk, 2016)</a:t>
            </a:r>
            <a:endParaRPr lang="en-US" sz="23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B6DA0-B24A-3808-1A9A-F12612391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1D83E40-95EE-2152-F7E8-02414399ECCD}"/>
              </a:ext>
            </a:extLst>
          </p:cNvPr>
          <p:cNvGrpSpPr/>
          <p:nvPr/>
        </p:nvGrpSpPr>
        <p:grpSpPr>
          <a:xfrm>
            <a:off x="-698908" y="9715500"/>
            <a:ext cx="19685815" cy="895359"/>
            <a:chOff x="0" y="0"/>
            <a:chExt cx="5184741" cy="2358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8E41D0-65D3-7AAC-1308-489D7B77A813}"/>
                </a:ext>
              </a:extLst>
            </p:cNvPr>
            <p:cNvSpPr/>
            <p:nvPr/>
          </p:nvSpPr>
          <p:spPr>
            <a:xfrm>
              <a:off x="0" y="0"/>
              <a:ext cx="5184742" cy="235815"/>
            </a:xfrm>
            <a:custGeom>
              <a:avLst/>
              <a:gdLst/>
              <a:ahLst/>
              <a:cxnLst/>
              <a:rect l="l" t="t" r="r" b="b"/>
              <a:pathLst>
                <a:path w="5184742" h="235815">
                  <a:moveTo>
                    <a:pt x="0" y="0"/>
                  </a:moveTo>
                  <a:lnTo>
                    <a:pt x="5184742" y="0"/>
                  </a:lnTo>
                  <a:lnTo>
                    <a:pt x="5184742" y="235815"/>
                  </a:lnTo>
                  <a:lnTo>
                    <a:pt x="0" y="235815"/>
                  </a:lnTo>
                  <a:close/>
                </a:path>
              </a:pathLst>
            </a:custGeom>
            <a:solidFill>
              <a:srgbClr val="1F628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765AA58-800B-9B01-3879-4E70B63311C9}"/>
                </a:ext>
              </a:extLst>
            </p:cNvPr>
            <p:cNvSpPr txBox="1"/>
            <p:nvPr/>
          </p:nvSpPr>
          <p:spPr>
            <a:xfrm>
              <a:off x="0" y="-47625"/>
              <a:ext cx="5184741" cy="283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F932430-526A-2BE2-8A86-246B8F623DEE}"/>
              </a:ext>
            </a:extLst>
          </p:cNvPr>
          <p:cNvGrpSpPr/>
          <p:nvPr/>
        </p:nvGrpSpPr>
        <p:grpSpPr>
          <a:xfrm>
            <a:off x="-248532" y="0"/>
            <a:ext cx="19685815" cy="785650"/>
            <a:chOff x="0" y="0"/>
            <a:chExt cx="5184741" cy="20692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4A24F9C-66FF-F7A9-DA8C-76EA573D1537}"/>
                </a:ext>
              </a:extLst>
            </p:cNvPr>
            <p:cNvSpPr/>
            <p:nvPr/>
          </p:nvSpPr>
          <p:spPr>
            <a:xfrm>
              <a:off x="0" y="0"/>
              <a:ext cx="5184742" cy="206920"/>
            </a:xfrm>
            <a:custGeom>
              <a:avLst/>
              <a:gdLst/>
              <a:ahLst/>
              <a:cxnLst/>
              <a:rect l="l" t="t" r="r" b="b"/>
              <a:pathLst>
                <a:path w="5184742" h="206920">
                  <a:moveTo>
                    <a:pt x="0" y="0"/>
                  </a:moveTo>
                  <a:lnTo>
                    <a:pt x="5184742" y="0"/>
                  </a:lnTo>
                  <a:lnTo>
                    <a:pt x="5184742" y="206920"/>
                  </a:lnTo>
                  <a:lnTo>
                    <a:pt x="0" y="206920"/>
                  </a:lnTo>
                  <a:close/>
                </a:path>
              </a:pathLst>
            </a:custGeom>
            <a:solidFill>
              <a:srgbClr val="BFD9E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3BA184E-B64F-309E-731B-8E38EEA13F6A}"/>
                </a:ext>
              </a:extLst>
            </p:cNvPr>
            <p:cNvSpPr txBox="1"/>
            <p:nvPr/>
          </p:nvSpPr>
          <p:spPr>
            <a:xfrm>
              <a:off x="0" y="-47625"/>
              <a:ext cx="5184741" cy="254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D1EE1AF-0F7C-8EBD-727B-B423AE108E99}"/>
              </a:ext>
            </a:extLst>
          </p:cNvPr>
          <p:cNvSpPr txBox="1"/>
          <p:nvPr/>
        </p:nvSpPr>
        <p:spPr>
          <a:xfrm>
            <a:off x="1233116" y="2850036"/>
            <a:ext cx="562806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000" b="1" dirty="0">
                <a:solidFill>
                  <a:srgbClr val="343434"/>
                </a:solidFill>
                <a:latin typeface="Faustina Bold"/>
                <a:ea typeface="Faustina Bold"/>
                <a:cs typeface="Faustina Bold"/>
                <a:sym typeface="Faustina Bold"/>
              </a:rPr>
              <a:t>Kesimpulan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AFCCE32-8C63-3659-55E8-C20AC4420908}"/>
              </a:ext>
            </a:extLst>
          </p:cNvPr>
          <p:cNvSpPr txBox="1"/>
          <p:nvPr/>
        </p:nvSpPr>
        <p:spPr>
          <a:xfrm>
            <a:off x="1210370" y="4391945"/>
            <a:ext cx="14966510" cy="2163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S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ifat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dioda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sebagai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saklar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satu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arah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dimanfaatkan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ROM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menentukan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jalur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logika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. Dengan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menyusun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dioda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sebuah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matriks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setiap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input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dapat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menghasilkan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pola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output biner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tertentu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ID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Susunan</a:t>
            </a:r>
            <a:r>
              <a:rPr lang="en-ID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dioda</a:t>
            </a:r>
            <a:r>
              <a:rPr lang="en-ID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tersebut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ID" sz="24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pola</a:t>
            </a:r>
            <a:r>
              <a:rPr lang="en-ID" sz="2400" b="1" dirty="0">
                <a:latin typeface="Poppins" panose="00000500000000000000" pitchFamily="2" charset="0"/>
                <a:cs typeface="Poppins" panose="00000500000000000000" pitchFamily="2" charset="0"/>
              </a:rPr>
              <a:t> data yang </a:t>
            </a:r>
            <a:r>
              <a:rPr lang="en-ID" sz="2400" b="1" dirty="0" err="1">
                <a:latin typeface="Poppins" panose="00000500000000000000" pitchFamily="2" charset="0"/>
                <a:cs typeface="Poppins" panose="00000500000000000000" pitchFamily="2" charset="0"/>
              </a:rPr>
              <a:t>tersimpan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kemudian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dibaca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ketika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 input </a:t>
            </a:r>
            <a:r>
              <a:rPr lang="en-ID" sz="2400" dirty="0" err="1">
                <a:latin typeface="Poppins" panose="00000500000000000000" pitchFamily="2" charset="0"/>
                <a:cs typeface="Poppins" panose="00000500000000000000" pitchFamily="2" charset="0"/>
              </a:rPr>
              <a:t>diberikan</a:t>
            </a:r>
            <a:r>
              <a:rPr lang="en-ID" sz="24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US" sz="24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E34C42-0D57-A346-4A6D-5A11C094BDAD}"/>
              </a:ext>
            </a:extLst>
          </p:cNvPr>
          <p:cNvSpPr txBox="1"/>
          <p:nvPr/>
        </p:nvSpPr>
        <p:spPr>
          <a:xfrm>
            <a:off x="9594376" y="32072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84620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0492" y="-2687545"/>
            <a:ext cx="4782720" cy="4782720"/>
          </a:xfrm>
          <a:custGeom>
            <a:avLst/>
            <a:gdLst/>
            <a:ahLst/>
            <a:cxnLst/>
            <a:rect l="l" t="t" r="r" b="b"/>
            <a:pathLst>
              <a:path w="4782720" h="4782720">
                <a:moveTo>
                  <a:pt x="0" y="0"/>
                </a:moveTo>
                <a:lnTo>
                  <a:pt x="4782720" y="0"/>
                </a:lnTo>
                <a:lnTo>
                  <a:pt x="4782720" y="4782720"/>
                </a:lnTo>
                <a:lnTo>
                  <a:pt x="0" y="4782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3" name="Group 3"/>
          <p:cNvGrpSpPr/>
          <p:nvPr/>
        </p:nvGrpSpPr>
        <p:grpSpPr>
          <a:xfrm>
            <a:off x="3386855" y="3423457"/>
            <a:ext cx="11529894" cy="3343608"/>
            <a:chOff x="0" y="0"/>
            <a:chExt cx="3036680" cy="8806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36680" cy="880621"/>
            </a:xfrm>
            <a:custGeom>
              <a:avLst/>
              <a:gdLst/>
              <a:ahLst/>
              <a:cxnLst/>
              <a:rect l="l" t="t" r="r" b="b"/>
              <a:pathLst>
                <a:path w="3036680" h="880621">
                  <a:moveTo>
                    <a:pt x="0" y="0"/>
                  </a:moveTo>
                  <a:lnTo>
                    <a:pt x="3036680" y="0"/>
                  </a:lnTo>
                  <a:lnTo>
                    <a:pt x="3036680" y="880621"/>
                  </a:lnTo>
                  <a:lnTo>
                    <a:pt x="0" y="880621"/>
                  </a:lnTo>
                  <a:close/>
                </a:path>
              </a:pathLst>
            </a:custGeom>
            <a:solidFill>
              <a:srgbClr val="BFD9E8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036680" cy="928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231965" y="7909838"/>
            <a:ext cx="5369567" cy="5369567"/>
          </a:xfrm>
          <a:custGeom>
            <a:avLst/>
            <a:gdLst/>
            <a:ahLst/>
            <a:cxnLst/>
            <a:rect l="l" t="t" r="r" b="b"/>
            <a:pathLst>
              <a:path w="5369567" h="5369567">
                <a:moveTo>
                  <a:pt x="0" y="0"/>
                </a:moveTo>
                <a:lnTo>
                  <a:pt x="5369567" y="0"/>
                </a:lnTo>
                <a:lnTo>
                  <a:pt x="5369567" y="5369566"/>
                </a:lnTo>
                <a:lnTo>
                  <a:pt x="0" y="5369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7" name="Group 7"/>
          <p:cNvGrpSpPr/>
          <p:nvPr/>
        </p:nvGrpSpPr>
        <p:grpSpPr>
          <a:xfrm>
            <a:off x="4040047" y="5042133"/>
            <a:ext cx="10207907" cy="555265"/>
            <a:chOff x="0" y="0"/>
            <a:chExt cx="2688502" cy="1462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88502" cy="146243"/>
            </a:xfrm>
            <a:custGeom>
              <a:avLst/>
              <a:gdLst/>
              <a:ahLst/>
              <a:cxnLst/>
              <a:rect l="l" t="t" r="r" b="b"/>
              <a:pathLst>
                <a:path w="2688502" h="146243">
                  <a:moveTo>
                    <a:pt x="0" y="0"/>
                  </a:moveTo>
                  <a:lnTo>
                    <a:pt x="2688502" y="0"/>
                  </a:lnTo>
                  <a:lnTo>
                    <a:pt x="2688502" y="146243"/>
                  </a:lnTo>
                  <a:lnTo>
                    <a:pt x="0" y="146243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688502" cy="193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591809" y="4227703"/>
            <a:ext cx="9104383" cy="136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0"/>
              </a:lnSpc>
            </a:pPr>
            <a:r>
              <a:rPr lang="en-US" sz="9000" b="1">
                <a:solidFill>
                  <a:srgbClr val="005380"/>
                </a:solidFill>
                <a:latin typeface="Poppins Bold"/>
                <a:ea typeface="Poppins Bold"/>
                <a:cs typeface="Poppins Bold"/>
                <a:sym typeface="Poppins Bold"/>
              </a:rPr>
              <a:t>Terima Kasih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721852" y="6085298"/>
            <a:ext cx="1306383" cy="1306383"/>
          </a:xfrm>
          <a:custGeom>
            <a:avLst/>
            <a:gdLst/>
            <a:ahLst/>
            <a:cxnLst/>
            <a:rect l="l" t="t" r="r" b="b"/>
            <a:pathLst>
              <a:path w="1306383" h="1306383">
                <a:moveTo>
                  <a:pt x="0" y="0"/>
                </a:moveTo>
                <a:lnTo>
                  <a:pt x="1306383" y="0"/>
                </a:lnTo>
                <a:lnTo>
                  <a:pt x="1306383" y="1306383"/>
                </a:lnTo>
                <a:lnTo>
                  <a:pt x="0" y="1306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380</Words>
  <Application>Microsoft Office PowerPoint</Application>
  <PresentationFormat>Custom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Poppins</vt:lpstr>
      <vt:lpstr>Calibri</vt:lpstr>
      <vt:lpstr>Poppins Bold</vt:lpstr>
      <vt:lpstr>Faustina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Aulia_ROM</dc:title>
  <cp:lastModifiedBy>acer_aspire_N100@outlook.com</cp:lastModifiedBy>
  <cp:revision>4</cp:revision>
  <dcterms:created xsi:type="dcterms:W3CDTF">2006-08-16T00:00:00Z</dcterms:created>
  <dcterms:modified xsi:type="dcterms:W3CDTF">2026-09-05T07:54:06Z</dcterms:modified>
  <dc:identifier>DAHUMGybNHE</dc:identifier>
</cp:coreProperties>
</file>